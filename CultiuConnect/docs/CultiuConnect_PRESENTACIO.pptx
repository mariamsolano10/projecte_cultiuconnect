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3" autoAdjust="0"/>
    <p:restoredTop sz="95658" autoAdjust="0"/>
  </p:normalViewPr>
  <p:slideViewPr>
    <p:cSldViewPr snapToGrid="0" snapToObjects="1">
      <p:cViewPr varScale="1">
        <p:scale>
          <a:sx n="142" d="100"/>
          <a:sy n="142" d="100"/>
        </p:scale>
        <p:origin x="768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040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10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2560320" cy="2560320"/>
          </a:xfrm>
          <a:prstGeom prst="ellipse">
            <a:avLst/>
          </a:prstGeom>
          <a:solidFill>
            <a:srgbClr val="40916C">
              <a:alpha val="40000"/>
            </a:srgbClr>
          </a:solidFill>
          <a:ln w="12700">
            <a:solidFill>
              <a:srgbClr val="40916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0"/>
            <a:ext cx="1645920" cy="1645920"/>
          </a:xfrm>
          <a:prstGeom prst="ellipse">
            <a:avLst/>
          </a:prstGeom>
          <a:solidFill>
            <a:srgbClr val="74C69D">
              <a:alpha val="30000"/>
            </a:srgbClr>
          </a:solidFill>
          <a:ln w="12700">
            <a:solidFill>
              <a:srgbClr val="74C69D">
                <a:alpha val="30000"/>
              </a:srgbClr>
            </a:solidFill>
            <a:prstDash val="solid"/>
          </a:ln>
        </p:spPr>
      </p:sp>
      <p:pic>
        <p:nvPicPr>
          <p:cNvPr id="5" name="Image 0" descr="/home/claude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30120"/>
            <a:ext cx="2743200" cy="2743200"/>
          </a:xfrm>
          <a:prstGeom prst="ellipse">
            <a:avLst/>
          </a:prstGeom>
          <a:noFill/>
          <a:effectLst>
            <a:outerShdw blurRad="304800" algn="ctr" rotWithShape="0">
              <a:srgbClr val="74C69D">
                <a:alpha val="6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2331720"/>
            <a:ext cx="2743200" cy="347472"/>
          </a:xfrm>
          <a:prstGeom prst="roundRect">
            <a:avLst>
              <a:gd name="adj" fmla="val 13158"/>
            </a:avLst>
          </a:prstGeom>
          <a:solidFill>
            <a:srgbClr val="74C69D">
              <a:alpha val="80000"/>
            </a:srgbClr>
          </a:solidFill>
          <a:ln w="12700">
            <a:solidFill>
              <a:srgbClr val="74C69D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2331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332"/>
                </a:solidFill>
              </a:rPr>
              <a:t>Gestió d'Explotacions Agrícoles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4320" y="2926080"/>
            <a:ext cx="2743200" cy="0"/>
          </a:xfrm>
          <a:prstGeom prst="line">
            <a:avLst/>
          </a:prstGeom>
          <a:noFill/>
          <a:ln w="19050">
            <a:solidFill>
              <a:srgbClr val="74C69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3108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4C69D"/>
                </a:solidFill>
              </a:rPr>
              <a:t>Mariam Solano Guzmán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4C69D"/>
                </a:solidFill>
              </a:rPr>
              <a:t>Joan Garcia Pizarro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66160" y="9800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CultiuConnect</a:t>
            </a:r>
            <a:endParaRPr lang="en-US" sz="4400" dirty="0"/>
          </a:p>
        </p:txBody>
      </p:sp>
      <p:sp>
        <p:nvSpPr>
          <p:cNvPr id="12" name="Shape 9"/>
          <p:cNvSpPr/>
          <p:nvPr/>
        </p:nvSpPr>
        <p:spPr>
          <a:xfrm>
            <a:off x="3566160" y="2286000"/>
            <a:ext cx="4846320" cy="54864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246888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solució pensada per facilitar la gestió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d'una explotació fruitera.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3657600" y="4160520"/>
            <a:ext cx="475488" cy="475488"/>
          </a:xfrm>
          <a:prstGeom prst="ellipse">
            <a:avLst/>
          </a:prstGeom>
          <a:solidFill>
            <a:srgbClr val="40916C">
              <a:alpha val="70000"/>
            </a:srgbClr>
          </a:solidFill>
          <a:ln w="12700">
            <a:solidFill>
              <a:srgbClr val="74C69D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423367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0" y="46817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4C69D"/>
                </a:solidFill>
              </a:rPr>
              <a:t>Camp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4892040" y="4160520"/>
            <a:ext cx="475488" cy="475488"/>
          </a:xfrm>
          <a:prstGeom prst="ellipse">
            <a:avLst/>
          </a:prstGeom>
          <a:solidFill>
            <a:srgbClr val="40916C">
              <a:alpha val="70000"/>
            </a:srgbClr>
          </a:solidFill>
          <a:ln w="12700">
            <a:solidFill>
              <a:srgbClr val="74C69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423367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92040" y="46817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4C69D"/>
                </a:solidFill>
              </a:rPr>
              <a:t>Cultiu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6126480" y="4160520"/>
            <a:ext cx="475488" cy="475488"/>
          </a:xfrm>
          <a:prstGeom prst="ellipse">
            <a:avLst/>
          </a:prstGeom>
          <a:solidFill>
            <a:srgbClr val="40916C">
              <a:alpha val="70000"/>
            </a:srgbClr>
          </a:solidFill>
          <a:ln w="12700">
            <a:solidFill>
              <a:srgbClr val="74C69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423367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26480" y="46817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4C69D"/>
                </a:solidFill>
              </a:rPr>
              <a:t>Dades</a:t>
            </a:r>
            <a:endParaRPr lang="en-US" sz="700" dirty="0"/>
          </a:p>
        </p:txBody>
      </p:sp>
      <p:sp>
        <p:nvSpPr>
          <p:cNvPr id="23" name="Shape 17"/>
          <p:cNvSpPr/>
          <p:nvPr/>
        </p:nvSpPr>
        <p:spPr>
          <a:xfrm>
            <a:off x="7360920" y="4160520"/>
            <a:ext cx="475488" cy="475488"/>
          </a:xfrm>
          <a:prstGeom prst="ellipse">
            <a:avLst/>
          </a:prstGeom>
          <a:solidFill>
            <a:srgbClr val="40916C">
              <a:alpha val="70000"/>
            </a:srgbClr>
          </a:solidFill>
          <a:ln w="12700">
            <a:solidFill>
              <a:srgbClr val="74C69D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4072" y="4233672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60920" y="46817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4C69D"/>
                </a:solidFill>
              </a:rPr>
              <a:t>Anàlisi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 Real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0467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74C69D"/>
                </a:solidFill>
              </a:rPr>
              <a:t>02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1920240" cy="36576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0392" y="1325880"/>
            <a:ext cx="768096" cy="76809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1408176"/>
            <a:ext cx="585216" cy="5852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Dades disperses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84048" y="283464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 repartida entre papers, notes, Excel i diverses apps.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377440" y="1143000"/>
            <a:ext cx="1920240" cy="3657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53512" y="1325880"/>
            <a:ext cx="768096" cy="76809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52" y="1408176"/>
            <a:ext cx="585216" cy="5852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6888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Falta de visió global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487168" y="283464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Dificultat per saber què s'ha fet, què falta i quines tasques hi ha pendents.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480560" y="1143000"/>
            <a:ext cx="1920240" cy="36576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056632" y="1325880"/>
            <a:ext cx="768096" cy="76809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72" y="1408176"/>
            <a:ext cx="585216" cy="5852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Presa de decisions lenta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90288" y="283464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accés ràpid a les dades, el seguiment i la planificació es compliquen.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583680" y="1143000"/>
            <a:ext cx="1920240" cy="365760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159752" y="1325880"/>
            <a:ext cx="768096" cy="76809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1408176"/>
            <a:ext cx="585216" cy="5852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7512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Pèrdua d'eficiència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693408" y="283464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duplicacions i temps perdut redueixen la productivitat de l'explotació.</a:t>
            </a:r>
            <a:endParaRPr lang="en-US" sz="950" dirty="0"/>
          </a:p>
        </p:txBody>
      </p:sp>
      <p:pic>
        <p:nvPicPr>
          <p:cNvPr id="26" name="Image 5" descr="/home/claude/logo_transpar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000" y="4700000"/>
            <a:ext cx="420000" cy="4200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8640" y="4764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CultiuConnect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Sola Eina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0467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74C69D"/>
                </a:solidFill>
              </a:rPr>
              <a:t>03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188720"/>
            <a:ext cx="3657600" cy="35661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3017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Centralització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65760" y="3749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</a:rPr>
              <a:t>Tota la informació de l'explotació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</a:rPr>
              <a:t>en una única plataforma accessible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</a:rPr>
              <a:t>des de qualsevol dispositiu.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206240" y="1234440"/>
            <a:ext cx="4663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06240" y="1234440"/>
            <a:ext cx="54864" cy="7498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34256" y="1353312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389888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83480" y="1307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Visió global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98348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Panell d'estat complet de totes les àrees de l'explotació.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206240" y="2103120"/>
            <a:ext cx="4663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206240" y="2103120"/>
            <a:ext cx="54864" cy="7498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334256" y="2221992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2258568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83480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Consultes ràpides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983480" y="2468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Accés immediat a qualsevol dada, registre o historial.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206240" y="2971800"/>
            <a:ext cx="4663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206240" y="2971800"/>
            <a:ext cx="54864" cy="7498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334256" y="3090672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3127248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83480" y="3044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Seguiment d'activitat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98348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Cada acció queda registrada per a control i auditoria.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206240" y="3840480"/>
            <a:ext cx="4663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206240" y="3840480"/>
            <a:ext cx="54864" cy="7498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334256" y="3959352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0832" y="3995928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98348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Millor organització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983480" y="4206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Decisions basades en dades, menys improvisació.</a:t>
            </a:r>
            <a:endParaRPr lang="en-US" sz="900" dirty="0"/>
          </a:p>
        </p:txBody>
      </p:sp>
      <p:pic>
        <p:nvPicPr>
          <p:cNvPr id="34" name="Image 6" descr="/home/claude/logo_transpar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000" y="4700000"/>
            <a:ext cx="420000" cy="4200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48640" y="4764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CultiuConnect</a:t>
            </a:r>
            <a:endParaRPr lang="en-US" sz="800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F5DDC1B9-E783-4876-8212-C88892A555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416" y="1408422"/>
            <a:ext cx="3085221" cy="14719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Visió sobre Mapa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0467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74C69D"/>
                </a:solidFill>
              </a:rPr>
              <a:t>04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5303520" cy="3566160"/>
          </a:xfrm>
          <a:prstGeom prst="rect">
            <a:avLst/>
          </a:prstGeom>
          <a:solidFill>
            <a:srgbClr val="B7D9B0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1480" y="4160520"/>
            <a:ext cx="4937760" cy="365760"/>
          </a:xfrm>
          <a:prstGeom prst="rect">
            <a:avLst/>
          </a:prstGeom>
          <a:solidFill>
            <a:srgbClr val="D8F3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41879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Parcel·les de l'explotació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806440" y="118872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806440" y="1188720"/>
            <a:ext cx="54864" cy="749808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934456" y="1307592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1344168"/>
            <a:ext cx="438912" cy="4389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65392" y="1261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Parcel·les i sectors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565392" y="1572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Visualització clara de cada àrea de l'explotació.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5806440" y="205740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806440" y="2057400"/>
            <a:ext cx="54864" cy="749808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934456" y="2176272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2212848"/>
            <a:ext cx="438912" cy="43891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565392" y="21305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Localització intuïtiva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6565392" y="24414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Comprensió geogràfica immediata del terreny.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5806440" y="292608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5806440" y="2926080"/>
            <a:ext cx="54864" cy="749808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5934456" y="3044952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3081528"/>
            <a:ext cx="438912" cy="43891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565392" y="2999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Actuacions per zona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6565392" y="33101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Vincula cada intervenció a l'espai concret.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5806440" y="379476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5806440" y="3794760"/>
            <a:ext cx="54864" cy="749808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5934456" y="3913632"/>
            <a:ext cx="512064" cy="512064"/>
          </a:xfrm>
          <a:prstGeom prst="ellipse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032" y="3950208"/>
            <a:ext cx="438912" cy="43891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565392" y="38679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Dades geolocalitzades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6565392" y="41788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Relació directa entre les dades i l'espai real.</a:t>
            </a:r>
            <a:endParaRPr lang="en-US" sz="850" dirty="0"/>
          </a:p>
        </p:txBody>
      </p:sp>
      <p:pic>
        <p:nvPicPr>
          <p:cNvPr id="46" name="Image 6" descr="/home/claude/logo_transpar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000" y="4700000"/>
            <a:ext cx="420000" cy="42000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48640" y="4764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CultiuConnect</a:t>
            </a:r>
            <a:endParaRPr lang="en-US" sz="800" dirty="0"/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F40FC46D-BCEE-492B-B29B-6FD7E819C4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201" y="1454539"/>
            <a:ext cx="4915758" cy="23402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Traçabilitat i Control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0467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74C69D"/>
                </a:solidFill>
              </a:rPr>
              <a:t>05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325880"/>
            <a:ext cx="1371600" cy="1371600"/>
          </a:xfrm>
          <a:prstGeom prst="ellipse">
            <a:avLst/>
          </a:prstGeom>
          <a:solidFill>
            <a:srgbClr val="2D6A4F"/>
          </a:solidFill>
          <a:ln w="25400">
            <a:solidFill>
              <a:srgbClr val="74C69D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527048"/>
            <a:ext cx="676656" cy="6766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Producció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74320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Registre 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cultius i camps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1783080" y="2011680"/>
            <a:ext cx="685800" cy="0"/>
          </a:xfrm>
          <a:prstGeom prst="line">
            <a:avLst/>
          </a:prstGeom>
          <a:noFill/>
          <a:ln w="31750">
            <a:solidFill>
              <a:srgbClr val="74C69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359152" y="18288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4C69D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2514600" y="1325880"/>
            <a:ext cx="1371600" cy="1371600"/>
          </a:xfrm>
          <a:prstGeom prst="ellipse">
            <a:avLst/>
          </a:prstGeom>
          <a:solidFill>
            <a:srgbClr val="2D6A4F"/>
          </a:solidFill>
          <a:ln w="25400">
            <a:solidFill>
              <a:srgbClr val="74C69D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1527048"/>
            <a:ext cx="676656" cy="6766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2316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Collita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423160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Control 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lots i dates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931920" y="2011680"/>
            <a:ext cx="685800" cy="0"/>
          </a:xfrm>
          <a:prstGeom prst="line">
            <a:avLst/>
          </a:prstGeom>
          <a:noFill/>
          <a:ln w="31750">
            <a:solidFill>
              <a:srgbClr val="74C69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07992" y="18288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4C69D"/>
                </a:solidFill>
              </a:rPr>
              <a:t>›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4663440" y="1325880"/>
            <a:ext cx="1371600" cy="1371600"/>
          </a:xfrm>
          <a:prstGeom prst="ellipse">
            <a:avLst/>
          </a:prstGeom>
          <a:solidFill>
            <a:srgbClr val="2D6A4F"/>
          </a:solidFill>
          <a:ln w="25400">
            <a:solidFill>
              <a:srgbClr val="74C69D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1527048"/>
            <a:ext cx="676656" cy="6766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7200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Lots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0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Seguiment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complet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080760" y="2011680"/>
            <a:ext cx="685800" cy="0"/>
          </a:xfrm>
          <a:prstGeom prst="line">
            <a:avLst/>
          </a:prstGeom>
          <a:noFill/>
          <a:ln w="31750">
            <a:solidFill>
              <a:srgbClr val="74C69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656832" y="18288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4C69D"/>
                </a:solidFill>
              </a:rPr>
              <a:t>›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6812280" y="1325880"/>
            <a:ext cx="1371600" cy="1371600"/>
          </a:xfrm>
          <a:prstGeom prst="ellipse">
            <a:avLst/>
          </a:prstGeom>
          <a:solidFill>
            <a:srgbClr val="2D6A4F"/>
          </a:solidFill>
          <a:ln w="25400">
            <a:solidFill>
              <a:srgbClr val="74C69D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1527048"/>
            <a:ext cx="676656" cy="6766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2084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Certificació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720840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Traçabilitat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documentada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365760" y="3977640"/>
            <a:ext cx="2606040" cy="86868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4096512"/>
            <a:ext cx="438912" cy="4389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05840" y="4005072"/>
            <a:ext cx="1874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B4332"/>
                </a:solidFill>
              </a:rPr>
              <a:t>Millor control intern i auditoria completa de cada lot.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3200400" y="3977640"/>
            <a:ext cx="2606040" cy="86868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0128" y="4096512"/>
            <a:ext cx="438912" cy="4389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840480" y="4005072"/>
            <a:ext cx="1874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B4332"/>
                </a:solidFill>
              </a:rPr>
              <a:t>Imatge professional i organitzada davant compradors i certificadors.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6035040" y="3977640"/>
            <a:ext cx="2606040" cy="86868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4768" y="4096512"/>
            <a:ext cx="438912" cy="43891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675120" y="4005072"/>
            <a:ext cx="1874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B4332"/>
                </a:solidFill>
              </a:rPr>
              <a:t>Compliment normatiu facilitat gràcies al registre sistemàtic.</a:t>
            </a:r>
            <a:endParaRPr lang="en-US" sz="900" dirty="0"/>
          </a:p>
        </p:txBody>
      </p:sp>
      <p:pic>
        <p:nvPicPr>
          <p:cNvPr id="37" name="Image 8" descr="/home/claude/logo_transpar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000" y="4700000"/>
            <a:ext cx="420000" cy="4200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48640" y="4764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CultiuConnect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2286000" cy="2286000"/>
          </a:xfrm>
          <a:prstGeom prst="ellipse">
            <a:avLst/>
          </a:prstGeom>
          <a:solidFill>
            <a:srgbClr val="40916C">
              <a:alpha val="35000"/>
            </a:srgbClr>
          </a:solidFill>
          <a:ln w="12700">
            <a:solidFill>
              <a:srgbClr val="40916C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1828800" cy="1828800"/>
          </a:xfrm>
          <a:prstGeom prst="ellipse">
            <a:avLst/>
          </a:prstGeom>
          <a:solidFill>
            <a:srgbClr val="74C69D">
              <a:alpha val="30000"/>
            </a:srgbClr>
          </a:solidFill>
          <a:ln w="12700">
            <a:solidFill>
              <a:srgbClr val="74C69D">
                <a:alpha val="30000"/>
              </a:srgbClr>
            </a:solidFill>
            <a:prstDash val="solid"/>
          </a:ln>
        </p:spPr>
      </p:sp>
      <p:pic>
        <p:nvPicPr>
          <p:cNvPr id="5" name="Image 0" descr="/home/claude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000" y="1100000"/>
            <a:ext cx="2850000" cy="2850000"/>
          </a:xfrm>
          <a:prstGeom prst="ellipse">
            <a:avLst/>
          </a:prstGeom>
          <a:noFill/>
          <a:effectLst>
            <a:outerShdw blurRad="457200" algn="ctr" rotWithShape="0">
              <a:srgbClr val="74C69D">
                <a:alpha val="5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57200" y="411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74C6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CultiuConnect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5120640" cy="0"/>
          </a:xfrm>
          <a:prstGeom prst="line">
            <a:avLst/>
          </a:prstGeom>
          <a:noFill/>
          <a:ln w="19050">
            <a:solidFill>
              <a:srgbClr val="74C69D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1284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194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8F3DC"/>
                </a:solidFill>
              </a:rPr>
              <a:t>Gestió més fàcil, clara i eficient del dia a dia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15768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8F3DC"/>
                </a:solidFill>
              </a:rPr>
              <a:t>Reducció de la dispersió de dades i errors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18688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200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8F3DC"/>
                </a:solidFill>
              </a:rPr>
              <a:t>Millor control intern i visió global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21608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0120" y="3703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8F3DC"/>
                </a:solidFill>
              </a:rPr>
              <a:t>Més confiança en la presa de decisions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57200" y="4160520"/>
            <a:ext cx="5120640" cy="685800"/>
          </a:xfrm>
          <a:prstGeom prst="rect">
            <a:avLst/>
          </a:prstGeom>
          <a:solidFill>
            <a:srgbClr val="40916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57200" y="41605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Moltes gràcies!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314</Words>
  <Application>Microsoft Office PowerPoint</Application>
  <PresentationFormat>Presentación en pantalla (16:9)</PresentationFormat>
  <Paragraphs>83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CultiuConnect</dc:title>
  <dc:subject>PptxGenJS Presentation</dc:subject>
  <dc:creator>PptxGenJS</dc:creator>
  <cp:lastModifiedBy>Mariam</cp:lastModifiedBy>
  <cp:revision>3</cp:revision>
  <dcterms:created xsi:type="dcterms:W3CDTF">2026-04-19T19:19:53Z</dcterms:created>
  <dcterms:modified xsi:type="dcterms:W3CDTF">2026-04-19T21:55:33Z</dcterms:modified>
</cp:coreProperties>
</file>